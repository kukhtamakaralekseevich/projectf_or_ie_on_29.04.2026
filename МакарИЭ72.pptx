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80" d="100"/>
          <a:sy n="80" d="100"/>
        </p:scale>
        <p:origin x="78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505008-502A-41EB-BF86-DC3DB2070201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56C584-268C-44F4-AF43-2F9A730E61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9278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56C584-268C-44F4-AF43-2F9A730E619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7010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780756-8695-FA8C-9BED-B0C56C50A2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B1CEA59-481D-C272-0451-D84F68529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98AF93-1FE7-44AA-1FBC-A7842AD13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BF132-7D51-4E40-A64F-B2F3DA3516D9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63B8F4-C320-9BAC-8255-EC6B11581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7A90CF-F61E-BCC8-E0B2-2C8CF78F2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6039C-27C7-4C3E-947B-5565C74FA7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599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741BB1-9C55-A661-4C41-F7FB61474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90EF48-11B9-C973-386D-41A141B6E9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1DBB457-F985-63DC-C109-D9DBC0E0F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BF132-7D51-4E40-A64F-B2F3DA3516D9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FFA74C2-0222-BEB3-17D5-4C386A50A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E3EDE36-6600-AE28-3BCA-A84153FA8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6039C-27C7-4C3E-947B-5565C74FA7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4573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84D47D-2812-47AF-8DDD-E58223F1C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F5EC914-50ED-2EDB-3497-C5C0C0F7A3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B7EF8E7-1390-FF38-2543-C3C2A80B6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BF132-7D51-4E40-A64F-B2F3DA3516D9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5410623-FED6-F44D-46A9-9ABCE81B3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D26C20A-5858-1491-874B-BAC069484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6039C-27C7-4C3E-947B-5565C74FA7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3999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F22281-37AD-887E-2983-075930ABA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842AB06-C804-85C5-58E4-F0C371AE8B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A958F31-74E6-C1E2-517B-6858F0FBDC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3ABF948-62E4-7D2B-8A57-405ABB846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BF132-7D51-4E40-A64F-B2F3DA3516D9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C7F868A-B547-7094-E62B-CF859A21F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58B3669-A4BA-9931-0C33-BED8F7A49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6039C-27C7-4C3E-947B-5565C74FA7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4914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DA2AEA-7EDC-A58B-E777-8A513E886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97C20B3-A617-3525-925E-59EBC2A17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54BA8F7-8687-BCA8-9535-7509646488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517D4EB-624C-1C05-29E1-CEEC699C23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60D7C95-C300-EA79-9E24-02C5A790F0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C2FAC9B-3B21-7CFA-B6DC-D48136850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BF132-7D51-4E40-A64F-B2F3DA3516D9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E2430B3-F42C-AC0D-0C2D-570106199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CA94EB3-6738-3441-087A-C08120E8A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6039C-27C7-4C3E-947B-5565C74FA7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783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25242D-4BA7-8636-EEFE-B5C9A6ECE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DE0EA89-31C3-1FD1-1CEC-F8377E82B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BF132-7D51-4E40-A64F-B2F3DA3516D9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63D8790-C940-2E24-7DB4-00BB9ACB7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BB26822-2CA8-D156-6DF3-AF69B8F3D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6039C-27C7-4C3E-947B-5565C74FA7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5453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1FACE21-6E05-AAA3-BC7A-65A9D9E78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BF132-7D51-4E40-A64F-B2F3DA3516D9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A74CE38-466A-E637-81FA-DA290B731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9E043A6-F5B4-F743-A0FC-888B3DA0B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6039C-27C7-4C3E-947B-5565C74FA7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5124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2570B5-4D3B-BCAF-038A-4C19ECF99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E0A69D-7A79-C4DA-DFEB-FA9863798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77BE9BD-90BC-7C21-EA7C-6C4733B326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564CBC4-93F1-FDD2-E05F-06C95D1B1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BF132-7D51-4E40-A64F-B2F3DA3516D9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D105D24-EE74-1755-4EDC-601523D3B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5A63566-04FC-2DCA-7E63-1A9DBA83F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6039C-27C7-4C3E-947B-5565C74FA7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7110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08440D-62F2-EC70-EA2E-0EA4AA4AF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D1D94A8-10A9-6316-32A2-6DE6DF505E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8066D07-433E-6B04-58AE-D0CA45AAEA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29A4620-BE3B-C4E1-B33F-2586662A1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BF132-7D51-4E40-A64F-B2F3DA3516D9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2DF4D3B-77F1-D461-0979-BCD91D621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553EA09-2A09-126C-A960-A482DCBC5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6039C-27C7-4C3E-947B-5565C74FA7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8381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67A4C6-9A5A-831C-1001-1046B3592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EEAB69F-9DC9-7FF9-406B-46D996CEA3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833A22-EC3C-1FFB-4A42-42CAFF777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BF132-7D51-4E40-A64F-B2F3DA3516D9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8BD284B-35F4-8CC2-18B0-FDF416F04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BB171C1-A7F6-B159-BB6F-9DEBB46FC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6039C-27C7-4C3E-947B-5565C74FA7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3483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5709411-FF28-22FD-1B59-6C828E0E57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AF1BC39-6C2C-1E5C-F0E7-D68040BB20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A522F3E-1E81-2084-05E7-20C07CFFA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BF132-7D51-4E40-A64F-B2F3DA3516D9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7AE4E8-0F6D-A6B1-107D-E9F46C4F4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EBAAEC5-6CAF-2FCA-CB10-C2D54BE92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6039C-27C7-4C3E-947B-5565C74FA7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0976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FF01A2-3FE7-15A2-35FD-4C2EAA3A7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194C4DA-4401-B92D-05ED-81D9252DB0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B0580F4-707B-972A-184D-01425D4B2F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0BF132-7D51-4E40-A64F-B2F3DA3516D9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ADD9277-0BB3-98DF-079B-D58B83A6EA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9D964C3-5A21-3622-1B52-4CBC0F3F28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06039C-27C7-4C3E-947B-5565C74FA7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4329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B23793-9617-48CC-A482-7F498A6F2A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05D3796-191B-F237-4E03-9797CA3FDC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4907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5DDA1C-B075-AE06-73F4-B4B57CAC0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Определение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F5E1B7-EBF6-B3A4-903A-74F7B513C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ru-RU" dirty="0"/>
              <a:t>Солнечная электростанция (СЭС) — это энергетический объект, преобразующий солнечное излучение в электрическую энергию.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FC655F0-EE7C-4F26-0161-BF489324B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0" y="1690688"/>
            <a:ext cx="952500" cy="9525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7E21480-3F11-3715-5B9F-49BFE9950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7050" y="1825625"/>
            <a:ext cx="952500" cy="952500"/>
          </a:xfrm>
          <a:prstGeom prst="rect">
            <a:avLst/>
          </a:prstGeom>
        </p:spPr>
      </p:pic>
      <p:pic>
        <p:nvPicPr>
          <p:cNvPr id="1026" name="Picture 2" descr="Япония хочет более современных СЭС">
            <a:extLst>
              <a:ext uri="{FF2B5EF4-FFF2-40B4-BE49-F238E27FC236}">
                <a16:creationId xmlns:a16="http://schemas.microsoft.com/office/drawing/2014/main" id="{DE4C74B8-23F1-C2BB-2323-58D2367E1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9825" y="3216275"/>
            <a:ext cx="7372350" cy="327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8744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D0D3E5-6FD9-15C5-671B-A9EE2919C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Типы СЭС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7080AA-191A-2BC9-86E3-4630966F7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2113"/>
            <a:ext cx="4095750" cy="2851150"/>
          </a:xfrm>
        </p:spPr>
        <p:txBody>
          <a:bodyPr/>
          <a:lstStyle/>
          <a:p>
            <a:r>
              <a:rPr lang="ru-RU" dirty="0"/>
              <a:t>Автономные: не связаны с электрической сетью и используются для обеспечения электроэнергией отдаленных районов.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9CE038E-E08C-1260-C545-C38C9CB302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892" b="16242"/>
          <a:stretch>
            <a:fillRect/>
          </a:stretch>
        </p:blipFill>
        <p:spPr>
          <a:xfrm>
            <a:off x="1759744" y="4513263"/>
            <a:ext cx="2252662" cy="219580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1D97C0A-AC2A-93F0-574A-E1B26D223DA9}"/>
              </a:ext>
            </a:extLst>
          </p:cNvPr>
          <p:cNvSpPr txBox="1"/>
          <p:nvPr/>
        </p:nvSpPr>
        <p:spPr>
          <a:xfrm flipH="1">
            <a:off x="7258052" y="1690688"/>
            <a:ext cx="409575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Сетевые</a:t>
            </a:r>
            <a:r>
              <a:rPr lang="en-US" sz="2800" dirty="0"/>
              <a:t>:</a:t>
            </a:r>
            <a:r>
              <a:rPr lang="ru-RU" sz="2800" dirty="0"/>
              <a:t> подключены к электрической сети и могут продавать избыточную электроэнергию в энергосистему.</a:t>
            </a:r>
          </a:p>
        </p:txBody>
      </p:sp>
    </p:spTree>
    <p:extLst>
      <p:ext uri="{BB962C8B-B14F-4D97-AF65-F5344CB8AC3E}">
        <p14:creationId xmlns:p14="http://schemas.microsoft.com/office/powerpoint/2010/main" val="3941708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D86F69-F1A7-5C71-6530-5E13072FA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Преимущества СЭС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2C9F48-D6AF-9ACC-1F9D-7BAF862F9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Экологичность:</a:t>
            </a:r>
            <a:r>
              <a:rPr lang="ru-RU" dirty="0"/>
              <a:t> Солнечные электростанции не используют ископаемое топливо.</a:t>
            </a:r>
          </a:p>
          <a:p>
            <a:r>
              <a:rPr lang="ru-RU" b="1" dirty="0"/>
              <a:t>Бесшумность:</a:t>
            </a:r>
            <a:r>
              <a:rPr lang="ru-RU" dirty="0"/>
              <a:t> Солнечные панели не производят шума при работе.</a:t>
            </a:r>
          </a:p>
          <a:p>
            <a:r>
              <a:rPr lang="ru-RU" b="1" dirty="0"/>
              <a:t>Долговечность:</a:t>
            </a:r>
            <a:r>
              <a:rPr lang="ru-RU" dirty="0"/>
              <a:t> Срок службы солнечных панелей составляет от 25 до 30 лет.</a:t>
            </a:r>
          </a:p>
          <a:p>
            <a:r>
              <a:rPr lang="ru-RU" b="1" dirty="0"/>
              <a:t>Гибкость:</a:t>
            </a:r>
            <a:r>
              <a:rPr lang="ru-RU" dirty="0"/>
              <a:t> Солнечные панели могут быть легко интегрированы в существующие энергосистемы.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19623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81F60A-D372-A189-44CF-D3030F44D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Принцип работы СЭС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48DC2FF-7D55-7C56-0198-9BB6B4CBF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8050" y="1684700"/>
            <a:ext cx="952500" cy="95250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9D68F25B-5803-1754-5A24-814BBB1ECF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9940" y="5151528"/>
            <a:ext cx="952500" cy="952500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8E569042-FFA3-96E9-E653-BDBE912D48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7162" y="5052474"/>
            <a:ext cx="459213" cy="459213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A0EDE7AA-E580-A6AC-AF5A-682FBF5D58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9056" y="5021121"/>
            <a:ext cx="580667" cy="580667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74AC2D1C-6FDC-9D12-5CB3-7D08A95BA7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33860" y="5011105"/>
            <a:ext cx="580667" cy="580667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4893B6E2-8319-ED2B-BDB9-84C067CB9A9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99531" y="3058757"/>
            <a:ext cx="1132590" cy="1322743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C6785CFD-EAE0-50BC-ED37-E9A883AFD47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73573" y="1673834"/>
            <a:ext cx="1086918" cy="1086918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7371D155-65C2-67FA-E552-24964F600C1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53632" y="3571736"/>
            <a:ext cx="1221336" cy="1221336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9973EA6B-560F-990C-D03C-4E08F6B2232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95262" y="2722652"/>
            <a:ext cx="2070420" cy="2070420"/>
          </a:xfrm>
          <a:prstGeom prst="rect">
            <a:avLst/>
          </a:prstGeom>
        </p:spPr>
      </p:pic>
      <p:cxnSp>
        <p:nvCxnSpPr>
          <p:cNvPr id="43" name="Соединитель: уступ 42">
            <a:extLst>
              <a:ext uri="{FF2B5EF4-FFF2-40B4-BE49-F238E27FC236}">
                <a16:creationId xmlns:a16="http://schemas.microsoft.com/office/drawing/2014/main" id="{F075B81B-5049-2107-1D88-EF8FE4307D7B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3440550" y="2160950"/>
            <a:ext cx="2439714" cy="561702"/>
          </a:xfrm>
          <a:prstGeom prst="bentConnector3">
            <a:avLst>
              <a:gd name="adj1" fmla="val 99527"/>
            </a:avLst>
          </a:prstGeom>
          <a:ln>
            <a:solidFill>
              <a:srgbClr val="FFFF00"/>
            </a:solidFill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5" name="Прямая со стрелкой 44">
            <a:extLst>
              <a:ext uri="{FF2B5EF4-FFF2-40B4-BE49-F238E27FC236}">
                <a16:creationId xmlns:a16="http://schemas.microsoft.com/office/drawing/2014/main" id="{F3F2C37E-72AB-B1E2-ACEA-16177106036A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2964300" y="2637200"/>
            <a:ext cx="0" cy="1120662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 стрелкой 56">
            <a:extLst>
              <a:ext uri="{FF2B5EF4-FFF2-40B4-BE49-F238E27FC236}">
                <a16:creationId xmlns:a16="http://schemas.microsoft.com/office/drawing/2014/main" id="{217D6F3B-4D61-C15A-A16E-C0CB7414E362}"/>
              </a:ext>
            </a:extLst>
          </p:cNvPr>
          <p:cNvCxnSpPr>
            <a:cxnSpLocks/>
          </p:cNvCxnSpPr>
          <p:nvPr/>
        </p:nvCxnSpPr>
        <p:spPr>
          <a:xfrm>
            <a:off x="2996190" y="4436790"/>
            <a:ext cx="0" cy="927690"/>
          </a:xfrm>
          <a:prstGeom prst="straightConnector1">
            <a:avLst/>
          </a:prstGeom>
          <a:ln w="19050" cap="flat" cmpd="sng" algn="ctr">
            <a:solidFill>
              <a:srgbClr val="FFFF00"/>
            </a:solidFill>
            <a:prstDash val="sys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4" name="Соединитель: уступ 63">
            <a:extLst>
              <a:ext uri="{FF2B5EF4-FFF2-40B4-BE49-F238E27FC236}">
                <a16:creationId xmlns:a16="http://schemas.microsoft.com/office/drawing/2014/main" id="{45B0C6E2-ECCE-236D-462A-AD26DFDF7244}"/>
              </a:ext>
            </a:extLst>
          </p:cNvPr>
          <p:cNvCxnSpPr>
            <a:cxnSpLocks/>
          </p:cNvCxnSpPr>
          <p:nvPr/>
        </p:nvCxnSpPr>
        <p:spPr>
          <a:xfrm rot="10800000" flipV="1">
            <a:off x="7200901" y="2209672"/>
            <a:ext cx="910773" cy="543459"/>
          </a:xfrm>
          <a:prstGeom prst="bentConnector3">
            <a:avLst>
              <a:gd name="adj1" fmla="val 100199"/>
            </a:avLst>
          </a:prstGeom>
          <a:ln w="19050" cap="flat" cmpd="sng" algn="ctr">
            <a:solidFill>
              <a:srgbClr val="92D05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4" name="Соединитель: уступ 73">
            <a:extLst>
              <a:ext uri="{FF2B5EF4-FFF2-40B4-BE49-F238E27FC236}">
                <a16:creationId xmlns:a16="http://schemas.microsoft.com/office/drawing/2014/main" id="{646D2DE3-52D4-0ED0-44C9-98BD37308F5B}"/>
              </a:ext>
            </a:extLst>
          </p:cNvPr>
          <p:cNvCxnSpPr>
            <a:cxnSpLocks/>
          </p:cNvCxnSpPr>
          <p:nvPr/>
        </p:nvCxnSpPr>
        <p:spPr>
          <a:xfrm>
            <a:off x="3440550" y="5485092"/>
            <a:ext cx="3883644" cy="12700"/>
          </a:xfrm>
          <a:prstGeom prst="bentConnector4">
            <a:avLst>
              <a:gd name="adj1" fmla="val 46262"/>
              <a:gd name="adj2" fmla="val 1420000"/>
            </a:avLst>
          </a:prstGeom>
          <a:ln>
            <a:solidFill>
              <a:srgbClr val="FFFF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Прямая со стрелкой 76">
            <a:extLst>
              <a:ext uri="{FF2B5EF4-FFF2-40B4-BE49-F238E27FC236}">
                <a16:creationId xmlns:a16="http://schemas.microsoft.com/office/drawing/2014/main" id="{4A91D6C6-ACC6-9A51-3B71-9C137DFD87CF}"/>
              </a:ext>
            </a:extLst>
          </p:cNvPr>
          <p:cNvCxnSpPr>
            <a:cxnSpLocks/>
          </p:cNvCxnSpPr>
          <p:nvPr/>
        </p:nvCxnSpPr>
        <p:spPr>
          <a:xfrm flipV="1">
            <a:off x="6439390" y="5485092"/>
            <a:ext cx="0" cy="191808"/>
          </a:xfrm>
          <a:prstGeom prst="straightConnector1">
            <a:avLst/>
          </a:prstGeom>
          <a:ln>
            <a:solidFill>
              <a:srgbClr val="FFFF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Прямая со стрелкой 91">
            <a:extLst>
              <a:ext uri="{FF2B5EF4-FFF2-40B4-BE49-F238E27FC236}">
                <a16:creationId xmlns:a16="http://schemas.microsoft.com/office/drawing/2014/main" id="{D143A602-4E3F-41AE-E7AE-2DFF2F5D1070}"/>
              </a:ext>
            </a:extLst>
          </p:cNvPr>
          <p:cNvCxnSpPr>
            <a:cxnSpLocks/>
          </p:cNvCxnSpPr>
          <p:nvPr/>
        </p:nvCxnSpPr>
        <p:spPr>
          <a:xfrm flipV="1">
            <a:off x="5601190" y="5485092"/>
            <a:ext cx="0" cy="191808"/>
          </a:xfrm>
          <a:prstGeom prst="straightConnector1">
            <a:avLst/>
          </a:prstGeom>
          <a:ln>
            <a:solidFill>
              <a:srgbClr val="FFFF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Соединитель: уступ 100">
            <a:extLst>
              <a:ext uri="{FF2B5EF4-FFF2-40B4-BE49-F238E27FC236}">
                <a16:creationId xmlns:a16="http://schemas.microsoft.com/office/drawing/2014/main" id="{5024BC2E-5135-248F-9076-C77E21366910}"/>
              </a:ext>
            </a:extLst>
          </p:cNvPr>
          <p:cNvCxnSpPr>
            <a:cxnSpLocks/>
          </p:cNvCxnSpPr>
          <p:nvPr/>
        </p:nvCxnSpPr>
        <p:spPr>
          <a:xfrm rot="16200000" flipV="1">
            <a:off x="8988629" y="2442495"/>
            <a:ext cx="810984" cy="543459"/>
          </a:xfrm>
          <a:prstGeom prst="bentConnector2">
            <a:avLst/>
          </a:prstGeom>
          <a:ln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Соединитель: уступ 102">
            <a:extLst>
              <a:ext uri="{FF2B5EF4-FFF2-40B4-BE49-F238E27FC236}">
                <a16:creationId xmlns:a16="http://schemas.microsoft.com/office/drawing/2014/main" id="{4307EAEE-6DE9-45F8-CD89-F6B0D7F194A5}"/>
              </a:ext>
            </a:extLst>
          </p:cNvPr>
          <p:cNvCxnSpPr>
            <a:cxnSpLocks/>
          </p:cNvCxnSpPr>
          <p:nvPr/>
        </p:nvCxnSpPr>
        <p:spPr>
          <a:xfrm flipV="1">
            <a:off x="3440550" y="4312919"/>
            <a:ext cx="6225300" cy="1470661"/>
          </a:xfrm>
          <a:prstGeom prst="bentConnector2">
            <a:avLst/>
          </a:prstGeom>
          <a:ln>
            <a:solidFill>
              <a:srgbClr val="92D05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3D2108D6-7CA5-E04B-5D77-ACA72CBB3C36}"/>
              </a:ext>
            </a:extLst>
          </p:cNvPr>
          <p:cNvSpPr txBox="1"/>
          <p:nvPr/>
        </p:nvSpPr>
        <p:spPr>
          <a:xfrm>
            <a:off x="945779" y="1886506"/>
            <a:ext cx="13789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Солнечные</a:t>
            </a:r>
          </a:p>
          <a:p>
            <a:pPr algn="ctr"/>
            <a:r>
              <a:rPr lang="ru-RU" dirty="0"/>
              <a:t> панели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B4E0302D-51BA-7868-0404-B842F6E4EB8D}"/>
              </a:ext>
            </a:extLst>
          </p:cNvPr>
          <p:cNvSpPr txBox="1"/>
          <p:nvPr/>
        </p:nvSpPr>
        <p:spPr>
          <a:xfrm>
            <a:off x="1037148" y="3997738"/>
            <a:ext cx="1196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Инвертор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0A51870D-53FD-F553-C319-8DB1AFAA19C5}"/>
              </a:ext>
            </a:extLst>
          </p:cNvPr>
          <p:cNvSpPr txBox="1"/>
          <p:nvPr/>
        </p:nvSpPr>
        <p:spPr>
          <a:xfrm>
            <a:off x="1106078" y="5443112"/>
            <a:ext cx="105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Счётчик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58F8EB9D-1473-DE6D-CBBE-8C3FE42A9959}"/>
              </a:ext>
            </a:extLst>
          </p:cNvPr>
          <p:cNvSpPr txBox="1"/>
          <p:nvPr/>
        </p:nvSpPr>
        <p:spPr>
          <a:xfrm>
            <a:off x="10353675" y="3535462"/>
            <a:ext cx="673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Сеть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1ABFEC5-CDA4-539C-8404-94EAF03BDF6D}"/>
              </a:ext>
            </a:extLst>
          </p:cNvPr>
          <p:cNvSpPr txBox="1"/>
          <p:nvPr/>
        </p:nvSpPr>
        <p:spPr>
          <a:xfrm>
            <a:off x="8530600" y="5374646"/>
            <a:ext cx="1074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Избыток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5E01162-B2CC-FE5A-BAA9-0FFAD313EA44}"/>
              </a:ext>
            </a:extLst>
          </p:cNvPr>
          <p:cNvSpPr txBox="1"/>
          <p:nvPr/>
        </p:nvSpPr>
        <p:spPr>
          <a:xfrm>
            <a:off x="9160491" y="1263931"/>
            <a:ext cx="245137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Доход от </a:t>
            </a:r>
          </a:p>
          <a:p>
            <a:pPr algn="ctr"/>
            <a:r>
              <a:rPr lang="ru-RU" dirty="0"/>
              <a:t>продажи избытка</a:t>
            </a:r>
          </a:p>
          <a:p>
            <a:pPr algn="ctr"/>
            <a:r>
              <a:rPr lang="ru-RU" dirty="0"/>
              <a:t>по </a:t>
            </a:r>
            <a:r>
              <a:rPr lang="en-US" dirty="0"/>
              <a:t>“</a:t>
            </a:r>
            <a:r>
              <a:rPr lang="ru-RU" dirty="0"/>
              <a:t>зелёному</a:t>
            </a:r>
            <a:r>
              <a:rPr lang="en-US" dirty="0"/>
              <a:t>”</a:t>
            </a:r>
            <a:r>
              <a:rPr lang="ru-RU" dirty="0"/>
              <a:t> тарифу</a:t>
            </a:r>
          </a:p>
        </p:txBody>
      </p:sp>
    </p:spTree>
    <p:extLst>
      <p:ext uri="{BB962C8B-B14F-4D97-AF65-F5344CB8AC3E}">
        <p14:creationId xmlns:p14="http://schemas.microsoft.com/office/powerpoint/2010/main" val="391700678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115</Words>
  <Application>Microsoft Office PowerPoint</Application>
  <PresentationFormat>Широкоэкранный</PresentationFormat>
  <Paragraphs>21</Paragraphs>
  <Slides>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Тема Office</vt:lpstr>
      <vt:lpstr>Презентация PowerPoint</vt:lpstr>
      <vt:lpstr>Определение</vt:lpstr>
      <vt:lpstr>Типы СЭС</vt:lpstr>
      <vt:lpstr>Преимущества СЭС</vt:lpstr>
      <vt:lpstr>Принцип работы СЭС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Unicum_Student</dc:creator>
  <cp:lastModifiedBy>Unicum_Student</cp:lastModifiedBy>
  <cp:revision>1</cp:revision>
  <dcterms:created xsi:type="dcterms:W3CDTF">2026-03-17T08:42:47Z</dcterms:created>
  <dcterms:modified xsi:type="dcterms:W3CDTF">2026-03-17T11:36:20Z</dcterms:modified>
</cp:coreProperties>
</file>